
<file path=[Content_Types].xml><?xml version="1.0" encoding="utf-8"?>
<Types xmlns="http://schemas.openxmlformats.org/package/2006/content-types">
  <Default Extension="xml" ContentType="application/vnd.openxmlformats-officedocument.extended-properties+xml"/>
  <Default Extension="fntdata" ContentType="application/x-fontdata"/>
  <Default Extension="png" ContentType="image/png"/>
  <Default Extension="svg" ContentType="image/svg+xml"/>
  <Default Extension="rels" ContentType="application/vnd.openxmlformats-package.relationshi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viewProps.xml" ContentType="application/vnd.openxmlformats-officedocument.presentationml.viewProps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/docProps/app.xml" Id="rId3" /><Relationship Type="http://schemas.openxmlformats.org/package/2006/relationships/metadata/core-properties" Target="/docProps/core.xml" Id="rId2" /><Relationship Type="http://schemas.openxmlformats.org/officeDocument/2006/relationships/officeDocument" Target="/ppt/presentation.xml" Id="rId1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7.xml" Id="rId8" /><Relationship Type="http://schemas.openxmlformats.org/officeDocument/2006/relationships/font" Target="/ppt/fonts/font1.fntdata" Id="rId13" /><Relationship Type="http://schemas.openxmlformats.org/officeDocument/2006/relationships/font" Target="/ppt/fonts/font6.fntdata" Id="rId18" /><Relationship Type="http://schemas.openxmlformats.org/officeDocument/2006/relationships/slide" Target="/ppt/slides/slide2.xml" Id="rId3" /><Relationship Type="http://schemas.openxmlformats.org/officeDocument/2006/relationships/viewProps" Target="/ppt/viewProps.xml" Id="rId21" /><Relationship Type="http://schemas.openxmlformats.org/officeDocument/2006/relationships/slide" Target="/ppt/slides/slide6.xml" Id="rId7" /><Relationship Type="http://schemas.openxmlformats.org/officeDocument/2006/relationships/notesMaster" Target="/ppt/notesMasters/notesMaster1.xml" Id="rId12" /><Relationship Type="http://schemas.openxmlformats.org/officeDocument/2006/relationships/font" Target="/ppt/fonts/font5.fntdata" Id="rId17" /><Relationship Type="http://schemas.openxmlformats.org/officeDocument/2006/relationships/slide" Target="/ppt/slides/slide1.xml" Id="rId2" /><Relationship Type="http://schemas.openxmlformats.org/officeDocument/2006/relationships/font" Target="/ppt/fonts/font4.fntdata" Id="rId16" /><Relationship Type="http://schemas.openxmlformats.org/officeDocument/2006/relationships/presProps" Target="/ppt/presProps.xml" Id="rId20" /><Relationship Type="http://schemas.openxmlformats.org/officeDocument/2006/relationships/slideMaster" Target="/ppt/slideMasters/slideMaster1.xml" Id="rId1" /><Relationship Type="http://schemas.openxmlformats.org/officeDocument/2006/relationships/slide" Target="/ppt/slides/slide5.xml" Id="rId6" /><Relationship Type="http://schemas.openxmlformats.org/officeDocument/2006/relationships/slide" Target="/ppt/slides/slide10.xml" Id="rId11" /><Relationship Type="http://schemas.openxmlformats.org/officeDocument/2006/relationships/slide" Target="/ppt/slides/slide4.xml" Id="rId5" /><Relationship Type="http://schemas.openxmlformats.org/officeDocument/2006/relationships/font" Target="/ppt/fonts/font3.fntdata" Id="rId15" /><Relationship Type="http://schemas.openxmlformats.org/officeDocument/2006/relationships/tableStyles" Target="/ppt/tableStyles.xml" Id="rId23" /><Relationship Type="http://schemas.openxmlformats.org/officeDocument/2006/relationships/slide" Target="/ppt/slides/slide9.xml" Id="rId10" /><Relationship Type="http://schemas.openxmlformats.org/officeDocument/2006/relationships/font" Target="/ppt/fonts/font7.fntdata" Id="rId19" /><Relationship Type="http://schemas.openxmlformats.org/officeDocument/2006/relationships/slide" Target="/ppt/slides/slide3.xml" Id="rId4" /><Relationship Type="http://schemas.openxmlformats.org/officeDocument/2006/relationships/slide" Target="/ppt/slides/slide8.xml" Id="rId9" /><Relationship Type="http://schemas.openxmlformats.org/officeDocument/2006/relationships/font" Target="/ppt/fonts/font2.fntdata" Id="rId14" /><Relationship Type="http://schemas.openxmlformats.org/officeDocument/2006/relationships/theme" Target="/ppt/theme/theme1.xml" Id="rId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4872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Id2" /><Relationship Type="http://schemas.openxmlformats.org/officeDocument/2006/relationships/notesMaster" Target="/ppt/notesMasters/notesMaster1.xml" Id="rI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Id2" /><Relationship Type="http://schemas.openxmlformats.org/officeDocument/2006/relationships/notesMaster" Target="/ppt/notesMasters/notesMaster1.xml" Id="rI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Id2" /><Relationship Type="http://schemas.openxmlformats.org/officeDocument/2006/relationships/notesMaster" Target="/ppt/notesMasters/notesMaster1.xml" Id="rI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Id2" /><Relationship Type="http://schemas.openxmlformats.org/officeDocument/2006/relationships/notesMaster" Target="/ppt/notesMasters/notesMaster1.xml" Id="rI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Id2" /><Relationship Type="http://schemas.openxmlformats.org/officeDocument/2006/relationships/notesMaster" Target="/ppt/notesMasters/notesMaster1.xml" Id="rI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Id2" /><Relationship Type="http://schemas.openxmlformats.org/officeDocument/2006/relationships/notesMaster" Target="/ppt/notesMasters/notesMaster1.xml" Id="rI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Id2" /><Relationship Type="http://schemas.openxmlformats.org/officeDocument/2006/relationships/notesMaster" Target="/ppt/notesMasters/notesMaster1.xml" Id="rI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Id2" /><Relationship Type="http://schemas.openxmlformats.org/officeDocument/2006/relationships/notesMaster" Target="/ppt/notesMasters/notesMaster1.xml" Id="rI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3" /><Relationship Type="http://schemas.openxmlformats.org/officeDocument/2006/relationships/slideLayout" Target="/ppt/slideLayouts/slideLayout2.xml" Id="rId2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1.png" Id="rId3" /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2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Id2" /><Relationship Type="http://schemas.openxmlformats.org/officeDocument/2006/relationships/slideLayout" Target="/ppt/slideLayouts/slideLayout2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2.png" Id="rId3" /><Relationship Type="http://schemas.openxmlformats.org/officeDocument/2006/relationships/notesSlide" Target="/ppt/notesSlides/notesSlide3.xml" Id="rId2" /><Relationship Type="http://schemas.openxmlformats.org/officeDocument/2006/relationships/slideLayout" Target="/ppt/slideLayouts/slideLayout2.xml" Id="rId1" /><Relationship Type="http://schemas.openxmlformats.org/officeDocument/2006/relationships/image" Target="/ppt/media/image5.svg" Id="rId6" /><Relationship Type="http://schemas.openxmlformats.org/officeDocument/2006/relationships/image" Target="/ppt/media/image4.svg" Id="rId5" /><Relationship Type="http://schemas.openxmlformats.org/officeDocument/2006/relationships/image" Target="/ppt/media/image3.svg" Id="rI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6.png" Id="rId3" /><Relationship Type="http://schemas.openxmlformats.org/officeDocument/2006/relationships/notesSlide" Target="/ppt/notesSlides/notesSlide4.xml" Id="rId2" /><Relationship Type="http://schemas.openxmlformats.org/officeDocument/2006/relationships/slideLayout" Target="/ppt/slideLayouts/slideLayout2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7.png" Id="rId3" /><Relationship Type="http://schemas.openxmlformats.org/officeDocument/2006/relationships/notesSlide" Target="/ppt/notesSlides/notesSlide5.xml" Id="rId2" /><Relationship Type="http://schemas.openxmlformats.org/officeDocument/2006/relationships/slideLayout" Target="/ppt/slideLayouts/slideLayout2.xml" Id="rId1" /><Relationship Type="http://schemas.openxmlformats.org/officeDocument/2006/relationships/image" Target="/ppt/media/image8.png" Id="rI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9.png" Id="rId3" /><Relationship Type="http://schemas.openxmlformats.org/officeDocument/2006/relationships/notesSlide" Target="/ppt/notesSlides/notesSlide6.xml" Id="rId2" /><Relationship Type="http://schemas.openxmlformats.org/officeDocument/2006/relationships/slideLayout" Target="/ppt/slideLayouts/slideLayout2.xml" Id="rI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notesSlide" Target="/ppt/notesSlides/notesSlide7.xml" Id="rId2" /><Relationship Type="http://schemas.openxmlformats.org/officeDocument/2006/relationships/slideLayout" Target="/ppt/slideLayouts/slideLayout2.xml" Id="rI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10.png" Id="rId3" /><Relationship Type="http://schemas.openxmlformats.org/officeDocument/2006/relationships/notesSlide" Target="/ppt/notesSlides/notesSlide8.xml" Id="rId2" /><Relationship Type="http://schemas.openxmlformats.org/officeDocument/2006/relationships/slideLayout" Target="/ppt/slideLayouts/slideLayout2.xml" Id="rI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11.png" Id="rId3" /><Relationship Type="http://schemas.openxmlformats.org/officeDocument/2006/relationships/notesSlide" Target="/ppt/notesSlides/notesSlide9.xml" Id="rId2" /><Relationship Type="http://schemas.openxmlformats.org/officeDocument/2006/relationships/slideLayout" Target="/ppt/slideLayouts/slideLayout2.xml" Id="rI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12.svg" Id="rId3" /><Relationship Type="http://schemas.openxmlformats.org/officeDocument/2006/relationships/image" Target="/ppt/media/image16.svg" Id="rId7" /><Relationship Type="http://schemas.openxmlformats.org/officeDocument/2006/relationships/notesSlide" Target="/ppt/notesSlides/notesSlide10.xml" Id="rId2" /><Relationship Type="http://schemas.openxmlformats.org/officeDocument/2006/relationships/slideLayout" Target="/ppt/slideLayouts/slideLayout2.xml" Id="rId1" /><Relationship Type="http://schemas.openxmlformats.org/officeDocument/2006/relationships/image" Target="/ppt/media/image15.svg" Id="rId6" /><Relationship Type="http://schemas.openxmlformats.org/officeDocument/2006/relationships/image" Target="/ppt/media/image14.svg" Id="rId5" /><Relationship Type="http://schemas.openxmlformats.org/officeDocument/2006/relationships/image" Target="/ppt/media/image13.svg" Id="rId4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Uncovering insights from </a:t>
            </a: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3,900 transactions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across product categories — spending patterns, customer segments, and subscription behavior to guide strategic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1076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08422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3,900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1603697" y="195336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Purchases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259881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Total transactional records analyzed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0553" y="1308422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18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5768206" y="195336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Features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0553" y="2259881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Columns covering demographics, purchases, and behavior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6119" y="2841054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37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1603697" y="348600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119" y="3792513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Only in Review Rating — imputed by category median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0553" y="2841054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50</a:t>
            </a:r>
            <a:endParaRPr lang="en-US" sz="3650" dirty="0"/>
          </a:p>
        </p:txBody>
      </p:sp>
      <p:sp>
        <p:nvSpPr>
          <p:cNvPr id="13" name="Text 11"/>
          <p:cNvSpPr/>
          <p:nvPr/>
        </p:nvSpPr>
        <p:spPr>
          <a:xfrm>
            <a:off x="5768206" y="348600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Locations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60553" y="3792513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Unique customer locations across the dataset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4178796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 features include customer demographics (Age, Gender, Subscription Status), purchase details (Category, Amount, Season), and shopping behavior (Discount Applied, Review Rating, Shipping Type).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58093"/>
            <a:ext cx="446075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Preparation in Python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1113681"/>
            <a:ext cx="4722763" cy="109604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162127" y="1274490"/>
            <a:ext cx="203849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Cleaning &amp; Standardization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162127" y="1581001"/>
            <a:ext cx="4324945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Loaded via </a:t>
            </a:r>
            <a:r>
              <a:rPr lang="en-US" sz="11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checked with </a:t>
            </a:r>
            <a:r>
              <a:rPr lang="en-US" sz="11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</a:t>
            </a:r>
            <a:r>
              <a:rPr lang="en-US" sz="11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Renamed columns to snake_case for consistency.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351484"/>
            <a:ext cx="4722763" cy="111033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62127" y="251229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162127" y="2818805"/>
            <a:ext cx="4324945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Created </a:t>
            </a:r>
            <a:r>
              <a:rPr lang="en-US" sz="11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by binning ages and </a:t>
            </a:r>
            <a:r>
              <a:rPr lang="en-US" sz="11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from purchase data. Dropped redundant </a:t>
            </a:r>
            <a:r>
              <a:rPr lang="en-US" sz="11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25119" y="3603575"/>
            <a:ext cx="4722763" cy="108175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162127" y="37643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Database Integration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162127" y="4070896"/>
            <a:ext cx="43249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Cleaned DataFrame loaded into </a:t>
            </a: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PostgreSQL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for structured SQL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554630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Revenue by Gender &amp; Subscription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Findings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1615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Male customers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generated </a:t>
            </a:r>
            <a:r>
              <a:rPr lang="en-US" sz="110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$157,890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vs. </a:t>
            </a:r>
            <a:r>
              <a:rPr lang="en-US" sz="1100" dirty="0">
                <a:solidFill>
                  <a:srgbClr val="04318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$75,191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for females — more than double.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Non-subscribers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(73% of customers) contributed </a:t>
            </a:r>
            <a:r>
              <a:rPr lang="en-US" sz="110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$170,436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 total revenue, while subscribers (27%) contributed </a:t>
            </a:r>
            <a:r>
              <a:rPr lang="en-US" sz="1100" dirty="0">
                <a:solidFill>
                  <a:srgbClr val="04318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$62,645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Average spend is nearly identical: </a:t>
            </a: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$59.87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(non-subscribers) vs. </a:t>
            </a: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$59.49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(subscribers).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4292"/>
            <a:ext cx="6383387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Top Products by Rating &amp; Discount Dependency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1030337"/>
            <a:ext cx="1989386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Top 5 Products by Rating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30672"/>
            <a:ext cx="3929955" cy="28287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22688" y="1030337"/>
            <a:ext cx="2685157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Most Discount-Dependent Products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688" y="1330672"/>
            <a:ext cx="3929955" cy="28287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6119" y="4386411"/>
            <a:ext cx="8151763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Average purchase amounts were similar across shipping types — </a:t>
            </a:r>
            <a:r>
              <a:rPr lang="en-US" sz="9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$58.46</a:t>
            </a: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(Standard) vs. </a:t>
            </a:r>
            <a:r>
              <a:rPr lang="en-US" sz="9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$60.48</a:t>
            </a: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(Express). </a:t>
            </a:r>
            <a:r>
              <a:rPr lang="en-US" sz="9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839 customers</a:t>
            </a: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used discounts while still spending above the average purchase amount.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6521"/>
            <a:ext cx="402468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Customer Segmentation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31578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1386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Segment Breakdown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777082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Customers classified into three tiers based on purchase history: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358256"/>
            <a:ext cx="390294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Loyal — 3,116 customers: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The dominant segment, representing the core revenue base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Returning — 701 customers: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Moderate purchase history with growth potential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New — 83 customers: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Smallest segment, representing acquisition opportunities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749701" y="3945806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Of customers with </a:t>
            </a: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&gt;5 purchases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958 are subscribers vs. 2,518 non-subscribers.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1442"/>
            <a:ext cx="420499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Top Products by Category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187946"/>
            <a:ext cx="4004965" cy="1369591"/>
          </a:xfrm>
          <a:prstGeom prst="roundRect">
            <a:avLst>
              <a:gd name="adj" fmla="val 155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37877" y="132970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Accessories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7877" y="1636216"/>
            <a:ext cx="3721447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Jewelry — 171 orders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Sunglasses — 161 orders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Belt — 161 orders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2842" y="1187946"/>
            <a:ext cx="4005039" cy="1369591"/>
          </a:xfrm>
          <a:prstGeom prst="roundRect">
            <a:avLst>
              <a:gd name="adj" fmla="val 155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784601" y="132970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Clothing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84601" y="1636216"/>
            <a:ext cx="3721522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Blouse — 171 orders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Pants — 171 orders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Shirt — 169 orders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2699296"/>
            <a:ext cx="4004965" cy="1369591"/>
          </a:xfrm>
          <a:prstGeom prst="roundRect">
            <a:avLst>
              <a:gd name="adj" fmla="val 155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37877" y="284105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Footwear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7877" y="3147566"/>
            <a:ext cx="3721447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Sandals — 160 orders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Shoes — 150 orders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Sneakers — 145 orders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2842" y="2699296"/>
            <a:ext cx="4005039" cy="1369591"/>
          </a:xfrm>
          <a:prstGeom prst="roundRect">
            <a:avLst>
              <a:gd name="adj" fmla="val 155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84601" y="284105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Outerwear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84601" y="3147566"/>
            <a:ext cx="3721522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Jacket — 163 orders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Coat — 161 orders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4228356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Clothing is the dominant category by order volume, with Blouse and Pants tied at 171 orders each. Outerwear has the fewest top products listed.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Revenue by Age Group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Age Group Insights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1488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Young Adults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lead in revenue contribution at </a:t>
            </a:r>
            <a:r>
              <a:rPr lang="en-US" sz="110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$62,143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followed by Middle-aged ($59,197), Adult ($55,978), and Senior ($55,763).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Revenue distribution across age groups is relatively balanced, with only a </a:t>
            </a: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$6,380 gap</a:t>
            </a: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between the highest and lowest contributors.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31081"/>
            <a:ext cx="3724424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Power BI Dashboard</a:t>
            </a:r>
            <a:endParaRPr lang="en-US" sz="2550" dirty="0"/>
          </a:p>
        </p:txBody>
      </p:sp>
      <p:sp>
        <p:nvSpPr>
          <p:cNvPr id="4" name="Shape 1"/>
          <p:cNvSpPr/>
          <p:nvPr/>
        </p:nvSpPr>
        <p:spPr>
          <a:xfrm>
            <a:off x="496119" y="1020142"/>
            <a:ext cx="4722763" cy="2954238"/>
          </a:xfrm>
          <a:prstGeom prst="roundRect">
            <a:avLst>
              <a:gd name="adj" fmla="val 66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496119" y="1020142"/>
            <a:ext cx="4722763" cy="738560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26790" y="1150813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3.9K Customers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26790" y="1427187"/>
            <a:ext cx="446142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Total customer base tracked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96119" y="1758702"/>
            <a:ext cx="4722763" cy="738560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96119" y="1758702"/>
            <a:ext cx="4722763" cy="14288"/>
          </a:xfrm>
          <a:prstGeom prst="roundRect">
            <a:avLst>
              <a:gd name="adj" fmla="val 137204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26790" y="1889373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$59.76 Avg Purchase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26790" y="2165747"/>
            <a:ext cx="446142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Mean transaction value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96119" y="2497262"/>
            <a:ext cx="4722763" cy="738560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96119" y="2497262"/>
            <a:ext cx="4722763" cy="14288"/>
          </a:xfrm>
          <a:prstGeom prst="roundRect">
            <a:avLst>
              <a:gd name="adj" fmla="val 137204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26790" y="2627933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3.75 Avg Rating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26790" y="2904306"/>
            <a:ext cx="446142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Overall review score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96119" y="3235821"/>
            <a:ext cx="4722763" cy="738560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496119" y="3235821"/>
            <a:ext cx="4722763" cy="14288"/>
          </a:xfrm>
          <a:prstGeom prst="roundRect">
            <a:avLst>
              <a:gd name="adj" fmla="val 137204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26790" y="3366492"/>
            <a:ext cx="16336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27% Subscribers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26790" y="3642866"/>
            <a:ext cx="4461421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Subscription penetration rate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96119" y="4109889"/>
            <a:ext cx="4722763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Interactive filters cover Subscription Status, Gender, Category (Accessories, Clothing, Footwear, Outerwear), and Shipping Type. Visuals include revenue and sales breakdowns by category and age group.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8208"/>
            <a:ext cx="455905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274713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8062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112764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Promote exclusive subscriber benefits to grow the 27% penetration rate.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274713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18062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2112764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Reward repeat buyers to advance them into the "Loyal" segment (3,116 customers).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747" y="1274713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18062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2112764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Balance sales boosts with margin control — Hats and Sneakers are ~50% discount-dependent.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76724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6119" y="360826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96119" y="3914775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Focus on high-revenue age groups (Young Adults lead) and express-shipping users.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2433" y="3076724"/>
            <a:ext cx="354360" cy="3543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72433" y="360826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272433" y="3914775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Highlight top-rated products (Gloves, Sandals, Boots) and best-sellers in campaigns.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640</Words>
  <Application>Microsoft Office PowerPoint</Application>
  <PresentationFormat>On-screen Show (16:9)</PresentationFormat>
  <Paragraphs>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Crimson Pro SemiBold</vt:lpstr>
      <vt:lpstr>Heebo</vt:lpstr>
      <vt:lpstr>Heebo Bold</vt:lpstr>
      <vt:lpstr>Consolas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Sumit Shakya</cp:lastModifiedBy>
  <cp:revision>2</cp:revision>
  <dcterms:created xsi:type="dcterms:W3CDTF">2026-07-02T14:48:37Z</dcterms:created>
  <dcterms:modified xsi:type="dcterms:W3CDTF">2026-07-02T14:54:50Z</dcterms:modified>
</cp:coreProperties>
</file>